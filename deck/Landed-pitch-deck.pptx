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03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2303C"/>
                </a:solidFill>
                <a:latin typeface="Calibri"/>
              </a:rPr>
              <a:t>Revenue by product, year one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0A030"/>
            </a:solidFill>
            <a:effectLst/>
          </c:spPr>
          <c:invertIfNegative val="0"/>
          <c:dLbls>
            <c:numFmt formatCode="£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2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Arrival kits (150)</c:v>
                  </c:pt>
                  <c:pt idx="1">
                    <c:v>Winter kits (120)</c:v>
                  </c:pt>
                  <c:pt idx="2">
                    <c:v>Storage boxes (100)</c:v>
                  </c:pt>
                  <c:pt idx="3">
                    <c:v>Resold items (200)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14250</c:v>
                </c:pt>
                <c:pt idx="1">
                  <c:v>5400</c:v>
                </c:pt>
                <c:pt idx="2">
                  <c:v>4500</c:v>
                </c:pt>
                <c:pt idx="3">
                  <c:v>3600</c:v>
                </c:pt>
              </c:numCache>
            </c:numRef>
          </c:val>
        </c:ser>
        <c:dLbls>
          <c:numFmt formatCode="£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2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2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03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2303C"/>
                </a:solidFill>
                <a:latin typeface="Calibri"/>
              </a:rPr>
              <a:t>Starting budget: £1,200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0A030"/>
              </a:solidFill>
              <a:effectLst/>
            </c:spPr>
          </c:dPt>
          <c:dPt>
            <c:idx val="1"/>
            <c:bubble3D val="0"/>
            <c:spPr>
              <a:solidFill>
                <a:srgbClr val="22303C"/>
              </a:solidFill>
              <a:effectLst/>
            </c:spPr>
          </c:dPt>
          <c:dPt>
            <c:idx val="2"/>
            <c:bubble3D val="0"/>
            <c:spPr>
              <a:solidFill>
                <a:srgbClr val="5C6B78"/>
              </a:solidFill>
              <a:effectLst/>
            </c:spPr>
          </c:dPt>
          <c:dPt>
            <c:idx val="3"/>
            <c:bubble3D val="0"/>
            <c:spPr>
              <a:solidFill>
                <a:srgbClr val="F3C27A"/>
              </a:solidFill>
              <a:effectLst/>
            </c:spPr>
          </c:dPt>
          <c:dPt>
            <c:idx val="4"/>
            <c:bubble3D val="0"/>
            <c:spPr>
              <a:solidFill>
                <a:srgbClr val="9FB0BC"/>
              </a:solidFill>
              <a:effectLst/>
            </c:spPr>
          </c:dPt>
          <c:dPt>
            <c:idx val="5"/>
            <c:bubble3D val="0"/>
            <c:spPr>
              <a:solidFill>
                <a:srgbClr val="D5DDE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Sample kits and photos £250</c:v>
                </c:pt>
                <c:pt idx="1">
                  <c:v>Early stock float £360</c:v>
                </c:pt>
                <c:pt idx="2">
                  <c:v>Flyers and ads £200</c:v>
                </c:pt>
                <c:pt idx="3">
                  <c:v>Van hire, two days £180</c:v>
                </c:pt>
                <c:pt idx="4">
                  <c:v>Storage unit deposit £150</c:v>
                </c:pt>
                <c:pt idx="5">
                  <c:v>Web and domain £60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250</c:v>
                </c:pt>
                <c:pt idx="1">
                  <c:v>360</c:v>
                </c:pt>
                <c:pt idx="2">
                  <c:v>200</c:v>
                </c:pt>
                <c:pt idx="3">
                  <c:v>180</c:v>
                </c:pt>
                <c:pt idx="4">
                  <c:v>150</c:v>
                </c:pt>
                <c:pt idx="5">
                  <c:v>60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A222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name only. Business: pre-ordered arrival kits delivered to halls before check-in, a winter kit in October, and summer box storage with furniture buy-back in May. Asset-light: stock is bought against confirmed pre-orders.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numbers are approximate (UoA c.15k, RGU c.15k) and should be checked against the latest HESA / university figures before this is shown externally. International intake fell across Scotland after the 2024 visa changes; check current-year figures for both universities.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costs are estimates for validation. Replace with quotes: bedding bundles from a UK contract-bedding wholesaler, catering-supply crockery, a Screwfix/Toolstation kettle. Van: one-day hire plus fuel, roughly £120, across 40+ drops.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Volumes are targets, not forecasts. 150 kits is under 1% of the combined student population and around 5% of a typical first-year halls intake. Gross profit uses the unit economics slide: 150x43 + 120x26 + 100x33 + 200x13 = c. £15.5k.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name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Landed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9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kits, winter kits and summer storage for Aberdeen's students.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business plan  |  September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26480" y="1234440"/>
            <a:ext cx="2286000" cy="228600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83080"/>
            <a:ext cx="1188720" cy="1188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18120" y="594360"/>
            <a:ext cx="777240" cy="777240"/>
          </a:xfrm>
          <a:prstGeom prst="ellipse">
            <a:avLst/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658" y="780898"/>
            <a:ext cx="404165" cy="40416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623560" y="3291840"/>
            <a:ext cx="777240" cy="777240"/>
          </a:xfrm>
          <a:prstGeom prst="ellipse">
            <a:avLst/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098" y="3478378"/>
            <a:ext cx="404165" cy="4041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Arriving is uncomfortable. Leaving is wasteful.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c. 30,000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574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across the University of Aberdeen and RGU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188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057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campuses, and both Hillhead and Garthdee halls are a bus ride from the shops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1887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full-size IKEA in Aberdeen; the nearest is in Edinburgh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3977640" cy="1645920"/>
          </a:xfrm>
          <a:prstGeom prst="roundRect">
            <a:avLst>
              <a:gd name="adj" fmla="val 6667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3063240"/>
            <a:ext cx="3977640" cy="1645920"/>
          </a:xfrm>
          <a:prstGeom prst="roundRect">
            <a:avLst>
              <a:gd name="adj" fmla="val 6667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310128"/>
            <a:ext cx="457200" cy="45720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3419856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2588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566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students land with one suitcase and a phone, then need a bed made and a kettle that works by that night.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937760" y="3310128"/>
            <a:ext cx="457200" cy="45720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3419856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57784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577840" y="3566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students bin kettles, lamps and duvets in halls skips. New arrivals buy the same things again four months later.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predictable weeks a year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2834640"/>
          </a:xfrm>
          <a:prstGeom prst="roundRect">
            <a:avLst>
              <a:gd name="adj" fmla="val 3871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09160" y="1188720"/>
            <a:ext cx="3977640" cy="2834640"/>
          </a:xfrm>
          <a:prstGeom prst="roundRect">
            <a:avLst>
              <a:gd name="adj" fmla="val 3871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5947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463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September: arrival week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9456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spend of the whole year, made in a hurry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shop before you have a room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Halls check-in dates are published months ahead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arrives in the same six buildings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983480" y="1463040"/>
            <a:ext cx="548640" cy="54864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154" y="159471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463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May: leaving week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19456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full of reusable kit outside every hall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students need somewhere to leave boxes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Move-out dates are also published in advance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stock of the year, for a week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weeks are dated, both are concentrated in a handful of buildings, and the second one supplies the first.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sell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24328" cy="2971800"/>
          </a:xfrm>
          <a:prstGeom prst="roundRect">
            <a:avLst>
              <a:gd name="adj" fmla="val 4181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53802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8988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kit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645920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£95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9456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Duvet, pillows and sheet set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Mattress protector and towel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Plates, bowls, mugs, cutlery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Pan, kettle and chopping board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adaptor and extension lead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room before check-in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64408" y="1188720"/>
            <a:ext cx="2624328" cy="2971800"/>
          </a:xfrm>
          <a:prstGeom prst="roundRect">
            <a:avLst>
              <a:gd name="adj" fmla="val 4181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93008" y="1417320"/>
            <a:ext cx="502920" cy="50292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709" y="153802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33088" y="138988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kit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133088" y="1645920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£45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493008" y="219456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water bottle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base layer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 socks and a beanie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D and a blackout eye mask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tea and a bag of rowies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 halls in October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71616" y="1188720"/>
            <a:ext cx="2624328" cy="2971800"/>
          </a:xfrm>
          <a:prstGeom prst="roundRect">
            <a:avLst>
              <a:gd name="adj" fmla="val 4181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00216" y="1417320"/>
            <a:ext cx="502920" cy="50292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917" y="1538021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40296" y="138988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storage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940296" y="1645920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£45 / box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300216" y="219456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from halls in May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June to September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 your new address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buy back what you don't want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or credit against next year's kit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Bundle: arrival kit + winter kit £125 (saves £15). Deposit £20 at reservation, balance on delivery.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loop, twice a year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43584" y="1828800"/>
            <a:ext cx="6291072" cy="0"/>
          </a:xfrm>
          <a:prstGeom prst="line">
            <a:avLst/>
          </a:prstGeom>
          <a:noFill/>
          <a:ln w="25400">
            <a:solidFill>
              <a:srgbClr val="AEBAC4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923544" y="1508760"/>
            <a:ext cx="640080" cy="64008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" y="166237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2860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to August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256032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Pre-orders open through offer-holder and arrival groups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496312" y="1508760"/>
            <a:ext cx="640080" cy="64008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931" y="166237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029968" y="22860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103120" y="256032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 delivered to rooms on check-in day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069080" y="1508760"/>
            <a:ext cx="640080" cy="64008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699" y="166237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02736" y="22860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3675888" y="256032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kits when the dark and the wind arrive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641848" y="1508760"/>
            <a:ext cx="640080" cy="64008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5467" y="166237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175504" y="22860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5248656" y="256032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collected, unwanted kit bought back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214616" y="1508760"/>
            <a:ext cx="640080" cy="64008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8235" y="1662379"/>
            <a:ext cx="332842" cy="33284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748272" y="22860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to August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6821424" y="2560320"/>
            <a:ext cx="1426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Storage; buy-back stock cleaned and repacked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1" y="4052621"/>
            <a:ext cx="261518" cy="26151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417320" y="37947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bought back for £2 to £5 in May is resold in September for £15 to £25. The leaving week stocks the arrival week, so the second year needs less wholesale stock than the first.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Aberdeen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Halls sit out of town: Hillhead two miles north, Garthdee two miles south, both on hilly bus routes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big-box home store within walking distance of either campus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international intake, much of it from warm countries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dark, windy winters from October to March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city-centre retail offer that has thinned out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means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6732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concentrated in a handful of buildings on one north-south line. A single van route serves most of the market, so delivery costs a few pounds per kit, not tens.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18872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91640"/>
            <a:ext cx="0" cy="2331720"/>
          </a:xfrm>
          <a:prstGeom prst="line">
            <a:avLst/>
          </a:prstGeom>
          <a:noFill/>
          <a:ln w="38100">
            <a:solidFill>
              <a:srgbClr val="F0A0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9944" y="1563624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0A0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1463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Hillhead halls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7099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Aberdeen, Old Aberdeen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9944" y="2706624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0A0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2606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centre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8529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halls, Crown Place, Union Street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9944" y="3895344"/>
            <a:ext cx="256032" cy="25603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0A0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3794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Garthdee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4041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RGU campus and halls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4343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van route, about 25 minutes end to end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economics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6692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31520"/>
                <a:gridCol w="731520"/>
                <a:gridCol w="868680"/>
                <a:gridCol w="1051560"/>
                <a:gridCol w="7315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0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0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0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0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0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30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 kit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D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Winter kit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£64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D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(per box)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Resold item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DF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7947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costed at UK wholesale (bedding and catering suppliers). Delivery is van hire and fuel split across a full route. Storage cost is a 50 sq ft unit for four months, shared across 60 boxes.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446520" y="1234440"/>
            <a:ext cx="2240280" cy="1554480"/>
          </a:xfrm>
          <a:prstGeom prst="roundRect">
            <a:avLst>
              <a:gd name="adj" fmla="val 7059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75120" y="1234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21031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gross margin at year-one mix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46520" y="2971800"/>
            <a:ext cx="2240280" cy="1691640"/>
          </a:xfrm>
          <a:prstGeom prst="roundRect">
            <a:avLst>
              <a:gd name="adj" fmla="val 6486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75120" y="2926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3794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per order covers a third of the goods cost before anything is bought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one: small numbers, real profit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2120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35040" y="1143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£27.8k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20116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year-one revenue at these volumes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2331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£15k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3200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profit, before your time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1%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43891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needed to hit 150 kits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reach them before they arrive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52728"/>
            <a:ext cx="457200" cy="45720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62456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2344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student societies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508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Nigerian, Indian, Malaysian and Chinese societies run the WhatsApp groups where offer-holders ask 'what should I bring?'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709160" y="1252728"/>
            <a:ext cx="457200" cy="45720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362456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349240" y="12344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Freshers' groups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349240" y="1508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UoA and RGU freshers' Facebook groups, plus the halls-specific groups that form each summer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395728"/>
            <a:ext cx="457200" cy="45720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0545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23774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Halls partnerships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1097280" y="2651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flyer in the offer pack and a line in the welcome email, in return for less move-in mess and fewer May skips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709160" y="2395728"/>
            <a:ext cx="457200" cy="45720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505456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49240" y="23774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page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349240" y="2651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from June: pick a kit, pick your halls, £20 deposit, balance on delivery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57200" y="3538728"/>
            <a:ext cx="457200" cy="45720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648456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97280" y="35204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1097280" y="3794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 off for each friend who orders; arrival groups make this spread on its own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4709160" y="3538728"/>
            <a:ext cx="457200" cy="45720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3648456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349240" y="35204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day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5349240" y="37947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branded van outside halls on check-in day is the winter-kit sign-up sheet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alternatives fall short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60920" y="1143000"/>
            <a:ext cx="1463040" cy="3383280"/>
          </a:xfrm>
          <a:prstGeom prst="roundRect">
            <a:avLst>
              <a:gd name="adj" fmla="val 7500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91840" y="1234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kit sites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234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/ Argos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234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Dunelm / B&amp;M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1234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6858000" cy="457200"/>
          </a:xfrm>
          <a:prstGeom prst="rect">
            <a:avLst/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room before check-in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31336" y="1773936"/>
            <a:ext cx="292608" cy="292608"/>
          </a:xfrm>
          <a:prstGeom prst="ellipse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1562" y="1844162"/>
            <a:ext cx="152156" cy="1521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202936" y="1773936"/>
            <a:ext cx="292608" cy="292608"/>
          </a:xfrm>
          <a:prstGeom prst="ellipse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162" y="1844162"/>
            <a:ext cx="152156" cy="15215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574536" y="1773936"/>
            <a:ext cx="292608" cy="292608"/>
          </a:xfrm>
          <a:prstGeom prst="ellipse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762" y="1844162"/>
            <a:ext cx="152156" cy="15215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946136" y="1773936"/>
            <a:ext cx="292608" cy="292608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362" y="1844162"/>
            <a:ext cx="152156" cy="1521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94360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an Aberdeen winter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3831336" y="2231136"/>
            <a:ext cx="292608" cy="292608"/>
          </a:xfrm>
          <a:prstGeom prst="ellipse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1562" y="2301362"/>
            <a:ext cx="152156" cy="152156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5202936" y="2231136"/>
            <a:ext cx="292608" cy="292608"/>
          </a:xfrm>
          <a:prstGeom prst="ellipse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3162" y="2301362"/>
            <a:ext cx="152156" cy="15215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574536" y="2231136"/>
            <a:ext cx="292608" cy="292608"/>
          </a:xfrm>
          <a:prstGeom prst="ellipse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4762" y="2301362"/>
            <a:ext cx="152156" cy="152156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7946136" y="2231136"/>
            <a:ext cx="292608" cy="292608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6362" y="2301362"/>
            <a:ext cx="152156" cy="152156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457200" y="2606040"/>
            <a:ext cx="6858000" cy="457200"/>
          </a:xfrm>
          <a:prstGeom prst="rect">
            <a:avLst/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28" name="Text 18"/>
          <p:cNvSpPr txBox="1"/>
          <p:nvPr/>
        </p:nvSpPr>
        <p:spPr>
          <a:xfrm>
            <a:off x="594360" y="2606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it back in May</a:t>
            </a:r>
            <a:endParaRPr lang="en-US" sz="1300" dirty="0"/>
          </a:p>
        </p:txBody>
      </p:sp>
      <p:sp>
        <p:nvSpPr>
          <p:cNvPr id="29" name="Shape 19"/>
          <p:cNvSpPr/>
          <p:nvPr/>
        </p:nvSpPr>
        <p:spPr>
          <a:xfrm>
            <a:off x="3831336" y="2688336"/>
            <a:ext cx="292608" cy="292608"/>
          </a:xfrm>
          <a:prstGeom prst="ellipse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01562" y="2758562"/>
            <a:ext cx="152156" cy="152156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5202936" y="2688336"/>
            <a:ext cx="292608" cy="292608"/>
          </a:xfrm>
          <a:prstGeom prst="ellipse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3162" y="2758562"/>
            <a:ext cx="152156" cy="152156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6574536" y="2688336"/>
            <a:ext cx="292608" cy="292608"/>
          </a:xfrm>
          <a:prstGeom prst="ellipse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4762" y="2758562"/>
            <a:ext cx="152156" cy="152156"/>
          </a:xfrm>
          <a:prstGeom prst="rect">
            <a:avLst/>
          </a:prstGeom>
        </p:spPr>
      </p:pic>
      <p:sp>
        <p:nvSpPr>
          <p:cNvPr id="35" name="Shape 22"/>
          <p:cNvSpPr/>
          <p:nvPr/>
        </p:nvSpPr>
        <p:spPr>
          <a:xfrm>
            <a:off x="7946136" y="2688336"/>
            <a:ext cx="292608" cy="292608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16362" y="2758562"/>
            <a:ext cx="152156" cy="152156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594360" y="3063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storage</a:t>
            </a:r>
            <a:endParaRPr lang="en-US" sz="1300" dirty="0"/>
          </a:p>
        </p:txBody>
      </p:sp>
      <p:sp>
        <p:nvSpPr>
          <p:cNvPr id="38" name="Shape 24"/>
          <p:cNvSpPr/>
          <p:nvPr/>
        </p:nvSpPr>
        <p:spPr>
          <a:xfrm>
            <a:off x="3831336" y="3145536"/>
            <a:ext cx="292608" cy="292608"/>
          </a:xfrm>
          <a:prstGeom prst="ellipse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01562" y="3215762"/>
            <a:ext cx="152156" cy="152156"/>
          </a:xfrm>
          <a:prstGeom prst="rect">
            <a:avLst/>
          </a:prstGeom>
        </p:spPr>
      </p:pic>
      <p:sp>
        <p:nvSpPr>
          <p:cNvPr id="40" name="Shape 25"/>
          <p:cNvSpPr/>
          <p:nvPr/>
        </p:nvSpPr>
        <p:spPr>
          <a:xfrm>
            <a:off x="5202936" y="3145536"/>
            <a:ext cx="292608" cy="292608"/>
          </a:xfrm>
          <a:prstGeom prst="ellipse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73162" y="3215762"/>
            <a:ext cx="152156" cy="152156"/>
          </a:xfrm>
          <a:prstGeom prst="rect">
            <a:avLst/>
          </a:prstGeom>
        </p:spPr>
      </p:pic>
      <p:sp>
        <p:nvSpPr>
          <p:cNvPr id="42" name="Shape 26"/>
          <p:cNvSpPr/>
          <p:nvPr/>
        </p:nvSpPr>
        <p:spPr>
          <a:xfrm>
            <a:off x="6574536" y="3145536"/>
            <a:ext cx="292608" cy="292608"/>
          </a:xfrm>
          <a:prstGeom prst="ellipse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4762" y="3215762"/>
            <a:ext cx="152156" cy="152156"/>
          </a:xfrm>
          <a:prstGeom prst="rect">
            <a:avLst/>
          </a:prstGeom>
        </p:spPr>
      </p:pic>
      <p:sp>
        <p:nvSpPr>
          <p:cNvPr id="44" name="Shape 27"/>
          <p:cNvSpPr/>
          <p:nvPr/>
        </p:nvSpPr>
        <p:spPr>
          <a:xfrm>
            <a:off x="7946136" y="3145536"/>
            <a:ext cx="292608" cy="292608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16362" y="3215762"/>
            <a:ext cx="152156" cy="152156"/>
          </a:xfrm>
          <a:prstGeom prst="rect">
            <a:avLst/>
          </a:prstGeom>
        </p:spPr>
      </p:pic>
      <p:sp>
        <p:nvSpPr>
          <p:cNvPr id="46" name="Shape 28"/>
          <p:cNvSpPr/>
          <p:nvPr/>
        </p:nvSpPr>
        <p:spPr>
          <a:xfrm>
            <a:off x="457200" y="3520440"/>
            <a:ext cx="6858000" cy="457200"/>
          </a:xfrm>
          <a:prstGeom prst="rect">
            <a:avLst/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</p:sp>
      <p:sp>
        <p:nvSpPr>
          <p:cNvPr id="47" name="Text 29"/>
          <p:cNvSpPr txBox="1"/>
          <p:nvPr/>
        </p:nvSpPr>
        <p:spPr>
          <a:xfrm>
            <a:off x="594360" y="3520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WhatsApp support</a:t>
            </a:r>
            <a:endParaRPr lang="en-US" sz="1300" dirty="0"/>
          </a:p>
        </p:txBody>
      </p:sp>
      <p:sp>
        <p:nvSpPr>
          <p:cNvPr id="48" name="Shape 30"/>
          <p:cNvSpPr/>
          <p:nvPr/>
        </p:nvSpPr>
        <p:spPr>
          <a:xfrm>
            <a:off x="3831336" y="3602736"/>
            <a:ext cx="292608" cy="292608"/>
          </a:xfrm>
          <a:prstGeom prst="ellipse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pic>
        <p:nvPicPr>
          <p:cNvPr id="4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01562" y="3672962"/>
            <a:ext cx="152156" cy="152156"/>
          </a:xfrm>
          <a:prstGeom prst="rect">
            <a:avLst/>
          </a:prstGeom>
        </p:spPr>
      </p:pic>
      <p:sp>
        <p:nvSpPr>
          <p:cNvPr id="50" name="Shape 31"/>
          <p:cNvSpPr/>
          <p:nvPr/>
        </p:nvSpPr>
        <p:spPr>
          <a:xfrm>
            <a:off x="5202936" y="3602736"/>
            <a:ext cx="292608" cy="292608"/>
          </a:xfrm>
          <a:prstGeom prst="ellipse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pic>
        <p:nvPicPr>
          <p:cNvPr id="5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73162" y="3672962"/>
            <a:ext cx="152156" cy="152156"/>
          </a:xfrm>
          <a:prstGeom prst="rect">
            <a:avLst/>
          </a:prstGeom>
        </p:spPr>
      </p:pic>
      <p:sp>
        <p:nvSpPr>
          <p:cNvPr id="52" name="Shape 32"/>
          <p:cNvSpPr/>
          <p:nvPr/>
        </p:nvSpPr>
        <p:spPr>
          <a:xfrm>
            <a:off x="6574536" y="3602736"/>
            <a:ext cx="292608" cy="292608"/>
          </a:xfrm>
          <a:prstGeom prst="ellipse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pic>
        <p:nvPicPr>
          <p:cNvPr id="5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44762" y="3672962"/>
            <a:ext cx="152156" cy="152156"/>
          </a:xfrm>
          <a:prstGeom prst="rect">
            <a:avLst/>
          </a:prstGeom>
        </p:spPr>
      </p:pic>
      <p:sp>
        <p:nvSpPr>
          <p:cNvPr id="54" name="Shape 33"/>
          <p:cNvSpPr/>
          <p:nvPr/>
        </p:nvSpPr>
        <p:spPr>
          <a:xfrm>
            <a:off x="7946136" y="3602736"/>
            <a:ext cx="292608" cy="292608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5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16362" y="3672962"/>
            <a:ext cx="152156" cy="152156"/>
          </a:xfrm>
          <a:prstGeom prst="rect">
            <a:avLst/>
          </a:prstGeom>
        </p:spPr>
      </p:pic>
      <p:sp>
        <p:nvSpPr>
          <p:cNvPr id="56" name="Text 34"/>
          <p:cNvSpPr txBox="1"/>
          <p:nvPr/>
        </p:nvSpPr>
        <p:spPr>
          <a:xfrm>
            <a:off x="594360" y="3977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trip on the bus</a:t>
            </a:r>
            <a:endParaRPr lang="en-US" sz="1300" dirty="0"/>
          </a:p>
        </p:txBody>
      </p:sp>
      <p:sp>
        <p:nvSpPr>
          <p:cNvPr id="57" name="Shape 35"/>
          <p:cNvSpPr/>
          <p:nvPr/>
        </p:nvSpPr>
        <p:spPr>
          <a:xfrm>
            <a:off x="3831336" y="4059936"/>
            <a:ext cx="292608" cy="292608"/>
          </a:xfrm>
          <a:prstGeom prst="ellipse">
            <a:avLst/>
          </a:prstGeom>
          <a:solidFill>
            <a:srgbClr val="22303C"/>
          </a:solidFill>
          <a:ln w="12700">
            <a:solidFill>
              <a:srgbClr val="22303C"/>
            </a:solidFill>
            <a:prstDash val="solid"/>
          </a:ln>
        </p:spPr>
      </p:sp>
      <p:pic>
        <p:nvPicPr>
          <p:cNvPr id="5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901562" y="4130162"/>
            <a:ext cx="152156" cy="152156"/>
          </a:xfrm>
          <a:prstGeom prst="rect">
            <a:avLst/>
          </a:prstGeom>
        </p:spPr>
      </p:pic>
      <p:sp>
        <p:nvSpPr>
          <p:cNvPr id="59" name="Shape 36"/>
          <p:cNvSpPr/>
          <p:nvPr/>
        </p:nvSpPr>
        <p:spPr>
          <a:xfrm>
            <a:off x="5202936" y="4059936"/>
            <a:ext cx="292608" cy="292608"/>
          </a:xfrm>
          <a:prstGeom prst="ellipse">
            <a:avLst/>
          </a:prstGeom>
          <a:solidFill>
            <a:srgbClr val="22303C"/>
          </a:solidFill>
          <a:ln w="12700">
            <a:solidFill>
              <a:srgbClr val="22303C"/>
            </a:solidFill>
            <a:prstDash val="solid"/>
          </a:ln>
        </p:spPr>
      </p:sp>
      <p:pic>
        <p:nvPicPr>
          <p:cNvPr id="60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73162" y="4130162"/>
            <a:ext cx="152156" cy="152156"/>
          </a:xfrm>
          <a:prstGeom prst="rect">
            <a:avLst/>
          </a:prstGeom>
        </p:spPr>
      </p:pic>
      <p:sp>
        <p:nvSpPr>
          <p:cNvPr id="61" name="Shape 37"/>
          <p:cNvSpPr/>
          <p:nvPr/>
        </p:nvSpPr>
        <p:spPr>
          <a:xfrm>
            <a:off x="6574536" y="4059936"/>
            <a:ext cx="292608" cy="292608"/>
          </a:xfrm>
          <a:prstGeom prst="ellipse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pic>
        <p:nvPicPr>
          <p:cNvPr id="6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44762" y="4130162"/>
            <a:ext cx="152156" cy="152156"/>
          </a:xfrm>
          <a:prstGeom prst="rect">
            <a:avLst/>
          </a:prstGeom>
        </p:spPr>
      </p:pic>
      <p:sp>
        <p:nvSpPr>
          <p:cNvPr id="63" name="Shape 38"/>
          <p:cNvSpPr/>
          <p:nvPr/>
        </p:nvSpPr>
        <p:spPr>
          <a:xfrm>
            <a:off x="7946136" y="4059936"/>
            <a:ext cx="292608" cy="292608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64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16362" y="4130162"/>
            <a:ext cx="152156" cy="152156"/>
          </a:xfrm>
          <a:prstGeom prst="rect">
            <a:avLst/>
          </a:prstGeom>
        </p:spPr>
      </p:pic>
      <p:sp>
        <p:nvSpPr>
          <p:cNvPr id="65" name="Text 39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kit sites courier a generic box to an address you may not have yet. Shops need a bus, a free afternoon and two strong arms.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budget and the ask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43000"/>
          <a:ext cx="44805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12064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120640" y="1618488"/>
            <a:ext cx="457200" cy="45720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728216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halls partnerships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760720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slot in the welcome pack at one UoA and one RGU building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120640" y="2487168"/>
            <a:ext cx="457200" cy="45720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259689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76072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5760720" y="2743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international student societies before their summer arrival groups form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120640" y="3355848"/>
            <a:ext cx="457200" cy="45720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3465576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76072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£3,000 float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5760720" y="3611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start-up grant or loan so stock can be bought six weeks early at bulk prices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5120640" y="4114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67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Pre-orders fund the stock: £20 deposit at reservation, balance on delivery, wholesale ordered against confirmed numbers.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23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twelve months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57300" y="1508760"/>
            <a:ext cx="6400800" cy="0"/>
          </a:xfrm>
          <a:prstGeom prst="line">
            <a:avLst/>
          </a:prstGeom>
          <a:noFill/>
          <a:ln w="25400">
            <a:solidFill>
              <a:srgbClr val="4B5A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4420" y="1325880"/>
            <a:ext cx="365760" cy="36576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828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2103120"/>
            <a:ext cx="1453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kit soft launch, 40 units, sold through societies. Proves the channel.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74620" y="1325880"/>
            <a:ext cx="365760" cy="36576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57400" y="1828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to Dec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130552" y="2103120"/>
            <a:ext cx="1453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conversations with international students; finalise arrival kit contents and price.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74820" y="1325880"/>
            <a:ext cx="365760" cy="36576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1828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to Mar 2027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30752" y="2103120"/>
            <a:ext cx="1453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Halls and wholesaler agreements; pre-order page live.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75020" y="1325880"/>
            <a:ext cx="365760" cy="36576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1828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2027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30952" y="2103120"/>
            <a:ext cx="1453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collections, buy-back and summer storage.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75220" y="1325880"/>
            <a:ext cx="365760" cy="365760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1828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to Jul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31152" y="2103120"/>
            <a:ext cx="1453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Pre-orders open for the 2027 intake.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5204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/ no-go: 50 paid deposits by 31 July 2027. Fewer than that, and the arrival kit stays a winter-kit side line.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 |   [email]   |   [phone]   |   Aberdeen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Landed - Aberdeen student arrival kits</dc:title>
  <dc:subject>PptxGenJS Presentation</dc:subject>
  <dc:creator>PptxGenJS</dc:creator>
  <cp:lastModifiedBy>PptxGenJS</cp:lastModifiedBy>
  <cp:revision>1</cp:revision>
  <dcterms:created xsi:type="dcterms:W3CDTF">2026-09-12T09:44:49Z</dcterms:created>
  <dcterms:modified xsi:type="dcterms:W3CDTF">2026-09-12T09:44:49Z</dcterms:modified>
</cp:coreProperties>
</file>